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64592" cy="50337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548640"/>
            <a:ext cx="1097280" cy="1097280"/>
          </a:xfrm>
          <a:prstGeom prst="ellipse">
            <a:avLst/>
          </a:prstGeom>
          <a:solidFill>
            <a:srgbClr val="1C7293">
              <a:alpha val="8000"/>
            </a:srgbClr>
          </a:solidFill>
          <a:ln w="19050">
            <a:solidFill>
              <a:srgbClr val="00B4D8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011680"/>
            <a:ext cx="731520" cy="731520"/>
          </a:xfrm>
          <a:prstGeom prst="ellipse">
            <a:avLst/>
          </a:prstGeom>
          <a:solidFill>
            <a:srgbClr val="1C7293">
              <a:alpha val="6000"/>
            </a:srgbClr>
          </a:solidFill>
          <a:ln w="1905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3246120"/>
            <a:ext cx="457200" cy="457200"/>
          </a:xfrm>
          <a:prstGeom prst="ellipse">
            <a:avLst/>
          </a:prstGeom>
          <a:solidFill>
            <a:srgbClr val="1C7293">
              <a:alpha val="4000"/>
            </a:srgbClr>
          </a:solidFill>
          <a:ln w="19050">
            <a:solidFill>
              <a:srgbClr val="00B4D8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Groundwater Prediction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Risk Assessment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43891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CD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for Chennai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1480" y="3657600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657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0" y="3657600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657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3657600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657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Mapping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0" y="3657600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657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Engineering Project  •  2024–25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Groundwater AI  |  AI-Powered Prediction &amp; Risk Assessment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754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68680"/>
            <a:ext cx="64008" cy="35661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60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Crisis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44348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faces severe groundwater depletion due to rapid urbanisation and erratic monsoons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monsoon (Oct–Dec) is the sole recharge window for most aquifers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zones suffer saline intrusion reducing usable water quality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AI system exists to forecast depletion and alert authorities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 growth outpaces sustainable extraction rates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8686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94960" y="868680"/>
            <a:ext cx="64008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914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 Most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04688" y="14356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Water-Stressed Metro in India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2075688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2075688"/>
            <a:ext cx="64008" cy="1005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21214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04688" y="26426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Groundwater Deficit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3282696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94960" y="3282696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33284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 faster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504688" y="38496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Depletion vs Recharge Rate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94960" y="4498848"/>
            <a:ext cx="3429000" cy="64008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449884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8C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"Without intervention, Chennai could face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A8C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Zero water crisis by 2030."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Groundwater AI  |  AI-Powered Prediction &amp; Risk Assessment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64008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33272" y="914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3272" y="126187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groundwater levels (continuous regression) for 10 Chennai zones using multi-source environmental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22960"/>
            <a:ext cx="64008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68112" y="914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68112" y="126187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 depletion risk as Low / Medium / High using ML classification models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1214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21408"/>
            <a:ext cx="64008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33272" y="22128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33272" y="2560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interactive GIS maps, IDW spatial interpolation, and heatmaps of Chennai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1214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121408"/>
            <a:ext cx="64008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68112" y="22128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68112" y="2560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SHAP-based explainability so stakeholders understand model decisions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4198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419856"/>
            <a:ext cx="64008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33272" y="35112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33272" y="385876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Streamlit web app for real-time predictions and scenario simulation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4198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419856"/>
            <a:ext cx="64008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68112" y="35112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68112" y="385876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30-year groundwater projections under IPCC RCP climate change scenarios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Groundwater AI  |  AI-Powered Prediction &amp; Risk Assessment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969264"/>
            <a:ext cx="27432" cy="5120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804672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· Temperature · NDVI · Population · Soil · Lat/Lon · Urban Fraction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53128" y="1645920"/>
            <a:ext cx="237744" cy="128016"/>
          </a:xfrm>
          <a:prstGeom prst="rect">
            <a:avLst/>
          </a:prstGeom>
          <a:solidFill>
            <a:srgbClr val="5C7A99"/>
          </a:solidFill>
          <a:ln w="12700">
            <a:solidFill>
              <a:srgbClr val="5C7A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801368"/>
            <a:ext cx="8503920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01368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965960"/>
            <a:ext cx="27432" cy="5120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801368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(t-1,3,6,12) · Rolling Stats · SPI Drought Index · Urbanisation Index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53128" y="2642616"/>
            <a:ext cx="237744" cy="128016"/>
          </a:xfrm>
          <a:prstGeom prst="rect">
            <a:avLst/>
          </a:prstGeom>
          <a:solidFill>
            <a:srgbClr val="5C7A99"/>
          </a:solidFill>
          <a:ln w="12700">
            <a:solidFill>
              <a:srgbClr val="5C7A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98064"/>
            <a:ext cx="8503920" cy="84124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98064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LAYER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2962656"/>
            <a:ext cx="27432" cy="5120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798064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· Random Forest · XGBoost · LSTM · GRU · ARIMA · Hybrid Physics+ML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53128" y="3639312"/>
            <a:ext cx="237744" cy="128016"/>
          </a:xfrm>
          <a:prstGeom prst="rect">
            <a:avLst/>
          </a:prstGeom>
          <a:solidFill>
            <a:srgbClr val="5C7A99"/>
          </a:solidFill>
          <a:ln w="12700">
            <a:solidFill>
              <a:srgbClr val="5C7A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794760"/>
            <a:ext cx="8503920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9476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LAYER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3959352"/>
            <a:ext cx="27432" cy="5120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794760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Level Forecast · Risk Class · SHAP Explanation · GIS Map · Anomaly Alert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Data Sources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Groundwater AI  |  AI-Powered Prediction &amp; Risk Assessment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64008" cy="3749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Multi-Source Dataset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755648" y="1417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Chennai administrative zones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19293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755648" y="1929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– 2023 (monthly)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4414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755648" y="2441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2,880 rows × 16 features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9535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(Reg.):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755648" y="2953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level (m)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34655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(Cls.):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755648" y="34655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Low / Medium / High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0" y="822960"/>
            <a:ext cx="4343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822960"/>
            <a:ext cx="64008" cy="3749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914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Categories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472184"/>
            <a:ext cx="20116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4173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08192" y="14173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Temp, Evapotranspiration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965960"/>
            <a:ext cx="20116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91109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08192" y="19110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(satellite proxy)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459736"/>
            <a:ext cx="20116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40487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08192" y="240487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+ Permeability coefficient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953512"/>
            <a:ext cx="20116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898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08192" y="28986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Latitude, Longitude, Coastal flag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447288"/>
            <a:ext cx="20116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39242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Socio-Economic: 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08192" y="33924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density, Urban fraction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941064"/>
            <a:ext cx="20116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38862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Engineered: 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08192" y="38862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Lags, Rolling stats, SPI, Urb. Index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Groundwater AI  |  AI-Powered Prediction &amp; Risk Assessment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889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27889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046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Lag Features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207008"/>
            <a:ext cx="2606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t-1, t-3, t-6, t-12 months for GW level and rainfall to capture memory effects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804672"/>
            <a:ext cx="27889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804672"/>
            <a:ext cx="278892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8046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Stats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28416" y="1207008"/>
            <a:ext cx="2606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6, 12-month moving averages and std-dev for rainfall and temperature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804672"/>
            <a:ext cx="27889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804672"/>
            <a:ext cx="27889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8046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 Drought Index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72784" y="1207008"/>
            <a:ext cx="2606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Precipitation Index — z-score of rainfall per calendar month across all years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313432"/>
            <a:ext cx="27889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313432"/>
            <a:ext cx="2788920" cy="347472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313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Urbanisation Index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4048" y="2715768"/>
            <a:ext cx="2606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of urban fraction (50%), population density (30%) and inverted NDVI (20%)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18688" y="2313432"/>
            <a:ext cx="27889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8688" y="2313432"/>
            <a:ext cx="27889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28416" y="2313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 Encoding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28416" y="2715768"/>
            <a:ext cx="2606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sin/cos of month + explicit season flag (NE monsoon / SW monsoon / dry)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63056" y="2313432"/>
            <a:ext cx="27889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3056" y="2313432"/>
            <a:ext cx="278892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2313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Darcy Recharge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72784" y="2715768"/>
            <a:ext cx="2606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Physics-derived estimate: (1–urban) × soil_permeability × rainfall × 0.002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Groundwater AI  |  AI-Powered Prediction &amp; Risk Assessment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379476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777240"/>
                <a:gridCol w="914400"/>
                <a:gridCol w="33375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Strength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baseline, interpretable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importance, robust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1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overall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predictions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0.97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0.97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+ feature imp.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0.97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best CV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— LSTM &amp; GRU (Pure NumPy)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Groundwater AI  |  AI-Powered Prediction &amp; Risk Assessment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64008" cy="3749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499616"/>
            <a:ext cx="2286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44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74520" y="14447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sliding window × 6 features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1993392"/>
            <a:ext cx="2286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938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Cell: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74520" y="193852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hidden units — sigmoid/tanh gates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487168"/>
            <a:ext cx="2286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432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74520" y="243230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through time, gradient clipping ±5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980944"/>
            <a:ext cx="2286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926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74520" y="29260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→ 3-step multi-step forecast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474720"/>
            <a:ext cx="2286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419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74520" y="34198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(lr=0.001, β₁=0.9, β₂=0.999)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968496"/>
            <a:ext cx="2286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9136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74520" y="39136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Patience=10, restore best weights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822960"/>
            <a:ext cx="64008" cy="3749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914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Results (Best Zones)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92040" y="1444752"/>
            <a:ext cx="3749040" cy="475488"/>
          </a:xfrm>
          <a:prstGeom prst="rect">
            <a:avLst/>
          </a:prstGeom>
          <a:solidFill>
            <a:srgbClr val="1C7293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444752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44768" y="1444752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R²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97496" y="1444752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R²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2011680"/>
            <a:ext cx="3749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01168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Adyar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44768" y="201168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97496" y="201168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0.786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2578608"/>
            <a:ext cx="3749040" cy="475488"/>
          </a:xfrm>
          <a:prstGeom prst="rect">
            <a:avLst/>
          </a:prstGeom>
          <a:solidFill>
            <a:srgbClr val="E8F4FD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578608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Nagar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44768" y="2578608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97496" y="2578608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92040" y="3145536"/>
            <a:ext cx="3749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145536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Chromepet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44768" y="3145536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97496" y="3145536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92040" y="3712464"/>
            <a:ext cx="3749040" cy="475488"/>
          </a:xfrm>
          <a:prstGeom prst="rect">
            <a:avLst/>
          </a:prstGeom>
          <a:solidFill>
            <a:srgbClr val="E8F4FD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712464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44768" y="3712464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−0.073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397496" y="3712464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40416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Pure NumPy LSTM — no TensorFlow/PyTorch required.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zones trained with early stopping.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Time-Series Forecasting — ARIMA Baseline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Groundwater AI  |  AI-Powered Prediction &amp; Risk Assessment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64008" cy="3749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ARIMA 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4447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ADF Stationarity Test per zone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19568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Auto-select (p, d, q) by AIC grid search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Fit SARIMAX model on 80% train split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98094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Forecast 20% test horizon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49300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Generate 24-month future projections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0050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Save diagnostic residual plots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8229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822960"/>
            <a:ext cx="64008" cy="3749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Zone Results (ARIMA)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444752"/>
            <a:ext cx="3840480" cy="420624"/>
          </a:xfrm>
          <a:prstGeom prst="rect">
            <a:avLst/>
          </a:prstGeom>
          <a:solidFill>
            <a:srgbClr val="021B4E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4447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14447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60920" y="14447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1947672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9476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19476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(2,0,2)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60920" y="19476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2450592"/>
            <a:ext cx="3840480" cy="420624"/>
          </a:xfrm>
          <a:prstGeom prst="rect">
            <a:avLst/>
          </a:prstGeom>
          <a:solidFill>
            <a:srgbClr val="E8F4FD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45059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Nagar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0760" y="245059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(2,1,2)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245059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2953512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9535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Chromepet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29535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(2,1,2)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60920" y="29535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3456432"/>
            <a:ext cx="3840480" cy="420624"/>
          </a:xfrm>
          <a:prstGeom prst="rect">
            <a:avLst/>
          </a:prstGeom>
          <a:solidFill>
            <a:srgbClr val="E8F4FD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4564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Velachery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80760" y="34564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(2,1,2)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60920" y="34564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3959352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9593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Tambaram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80760" y="39593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(2,0,0)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60920" y="39593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4114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serves as interpretable baseline.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significantly outperform on all zones.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GIS &amp; Spatial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Groundwater AI  |  AI-Powered Prediction &amp; Risk Assessment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41605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804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Folium Map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" y="1335024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markers colour-coded by risk level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(Low/Medium/High) with popup stats and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depletion heatmap overlay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04672"/>
            <a:ext cx="416052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804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IDW Interpolation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82896" y="1335024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Distance Weighting contour map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interpolating groundwater levels across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Chennai's spatial grid (200×200)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81635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16352"/>
            <a:ext cx="416052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2816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Heatmap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" y="3346704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risk distribution across zones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spatial scatter plot of all zones coloured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depletion risk category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81635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16352"/>
            <a:ext cx="41605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2816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Map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82896" y="3346704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mean groundwater level per zone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2000–2023 showing long-term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depletion trajectory per zone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Classification &amp; Explainable AI (SHAP)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Groundwater AI  |  AI-Powered Prediction &amp; Risk Assessment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74320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RISK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0759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" y="1417320"/>
            <a:ext cx="25420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depth &lt; 12 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recharge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extraction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804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RISK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130759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0128" y="1417320"/>
            <a:ext cx="25420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depth 12–20 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deficit emerging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required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804672"/>
            <a:ext cx="274320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804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0759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90488" y="1417320"/>
            <a:ext cx="25420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depth &gt; 20 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depletion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intervention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34640"/>
            <a:ext cx="64008" cy="164592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Classifier Performance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5120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— CV F1 macro: 0.968  |  Solver: SAGA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 — CV F1 macro: 0.970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 — CV F1 macro: 0.974  (best)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2834640"/>
            <a:ext cx="2880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2834640"/>
            <a:ext cx="64008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Explainability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3364992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TreeExplainer for RF &amp; XGBoost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LinearExplainer for Logistic Regression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Top-20 feature importance summary plots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Applied to High Risk class output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Enhancement Modules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Groundwater AI  |  AI-Powered Prediction &amp; Risk Assessment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788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Physics + ML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8056" y="1417320"/>
            <a:ext cx="2542032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layer: Darcy's Law recharge estimate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(1−urban) × soil_K × rainfall × 0.002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 (Random Forest) corrects physics residuals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model R² = 0.70 on held-out test 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804672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804672"/>
            <a:ext cx="2788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80467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Change Scenarios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92424" y="1417320"/>
            <a:ext cx="2542032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 2.6 — Optimistic: +5% rainfall, +1°C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 4.5 — Moderate: −10% rainfall, +2°C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 8.5 — Pessimistic: −20% rainfall, +3.5°C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30-year projection per zone, interactive chart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8776" y="804672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804672"/>
            <a:ext cx="278892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80467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36792" y="1417320"/>
            <a:ext cx="2542032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Isolation Forest (contamination=5%)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Rolling z-score threshold (default=3σ)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flag: either layer triggers alert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9–21 anomalies detected per zone (2000–2023)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Web Application — Streamlit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Groundwater AI  |  AI-Powered Prediction &amp; Risk Assessment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20116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2011680" cy="38404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229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280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trend chart, risk pie chart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822960"/>
            <a:ext cx="20116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822960"/>
            <a:ext cx="20116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8229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1280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params → GW gauge + risk bars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4296" y="822960"/>
            <a:ext cx="20116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822960"/>
            <a:ext cx="20116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8229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45736" y="1280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series, correlation, seasonal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21424" y="822960"/>
            <a:ext cx="20116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21424" y="822960"/>
            <a:ext cx="20116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2864" y="8229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GIS Maps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12864" y="1280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 + IDW + heatmap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377440"/>
            <a:ext cx="20116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377440"/>
            <a:ext cx="201168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3774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Assessment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28346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cards + annual bar chart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87168" y="2377440"/>
            <a:ext cx="20116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87168" y="2377440"/>
            <a:ext cx="201168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78608" y="23774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Scenarios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78608" y="28346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 2.6/4.5/8.5 projections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54296" y="2377440"/>
            <a:ext cx="20116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54296" y="2377440"/>
            <a:ext cx="201168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5736" y="23774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45736" y="28346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z-score chart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Streamlit  ·  scikit-learn  ·  XGBoost  ·  statsmodels  ·  Folium  ·  SHAP  ·  Pure NumPy LSTM  ·  Matplotlib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Groundwater AI  |  AI-Powered Prediction &amp; Risk Assessment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64008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868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0.9985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9768" y="1389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(Ridge Regression)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8229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822960"/>
            <a:ext cx="64008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868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06040" y="1389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Classifier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(XGBoost)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8229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822960"/>
            <a:ext cx="64008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868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82312" y="1389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Saved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48856" y="8229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48856" y="822960"/>
            <a:ext cx="64008" cy="100584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58584" y="868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2,880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58584" y="1389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Zones × 24 Yrs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029968"/>
            <a:ext cx="512064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029968"/>
            <a:ext cx="64008" cy="2450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1214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2578608"/>
            <a:ext cx="4800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and Ridge Regression achieve R² &gt; 0.99 on regression task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outperforms LSTM on 6 of 10 zones for time-series forecasting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provides interpretable baseline — ML models dominate accuracy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 8.5 scenario projects further 5–12 m depletion by 2053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9–21 anomalies detected per zone using dual-layer anomaly detection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0" y="2029968"/>
            <a:ext cx="315468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2029968"/>
            <a:ext cx="64008" cy="2450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212140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0" y="2578608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satellite data (GRACE)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forecast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integration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API deployment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generalisation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0" y="1024128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8872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fully modular, production-ready AI system for Chennai groundwater prediction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7 model types: Ridge, RF, XGBoost, GBM, LSTM, GRU, ARIMA — all running without TensorFlow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Physics+ML model incorporates Darcy's Law for domain-aware predictions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pipeline produces interactive Folium maps and IDW spatial interpolation of depletion zones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makes model decisions transparent to policymakers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provides real-time prediction, risk classification, and climate scenario simulation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40740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Chennai Groundwater AI</dc:title>
  <dc:subject>PptxGenJS Presentation</dc:subject>
  <dc:creator>Final Year Engineering Project</dc:creator>
  <cp:lastModifiedBy>Final Year Engineering Project</cp:lastModifiedBy>
  <cp:revision>1</cp:revision>
  <dcterms:created xsi:type="dcterms:W3CDTF">2026-04-19T21:05:31Z</dcterms:created>
  <dcterms:modified xsi:type="dcterms:W3CDTF">2026-04-19T21:05:31Z</dcterms:modified>
</cp:coreProperties>
</file>